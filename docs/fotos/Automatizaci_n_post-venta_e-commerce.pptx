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trabajo, autores y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manual no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investigación y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pilares teóricos.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 metodológico y 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flujos sobre una base de datos compartida.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del pipeline de órdenes.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del chatbot omnicanal.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hipótesis fueron confirmadas.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Conclusiones, limitaciones y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0"/>
            <a:ext cx="4953000" cy="4953000"/>
          </a:xfrm>
          <a:prstGeom prst="rect">
            <a:avLst/>
          </a:prstGeom>
          <a:gradFill rotWithShape="1">
            <a:gsLst>
              <a:gs pos="0">
                <a:srgbClr val="17A2B8">
                  <a:alpha val="28000"/>
                </a:srgbClr>
              </a:gs>
              <a:gs pos="70000">
                <a:srgbClr val="17A2B8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571500" y="7620000"/>
            <a:ext cx="3429000" cy="3429000"/>
          </a:xfrm>
          <a:prstGeom prst="rect">
            <a:avLst/>
          </a:prstGeom>
          <a:gradFill rotWithShape="1">
            <a:gsLst>
              <a:gs pos="0">
                <a:srgbClr val="17A2B8">
                  <a:alpha val="14000"/>
                </a:srgbClr>
              </a:gs>
              <a:gs pos="70000">
                <a:srgbClr val="17A2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38250" y="1143000"/>
            <a:ext cx="4191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1809750" y="1047750"/>
            <a:ext cx="25535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7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DE TESIS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8250" y="2934742"/>
            <a:ext cx="13735050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900" b="1" spc="-6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del ciclo post-venta en e-commerce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1238250" y="5155853"/>
            <a:ext cx="1143000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5527328"/>
            <a:ext cx="1196911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C6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procesamiento de órdenes y atención al cliente omnicanal con IA, implementado con n8n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38250" y="8134350"/>
            <a:ext cx="42401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04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238250" y="8439150"/>
            <a:ext cx="39702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Sordi · Ignacio Odorico Juan Cruz Ana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950148" y="8134350"/>
            <a:ext cx="25601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04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950148" y="8439150"/>
            <a:ext cx="25601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Alberto Cortez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810056" y="8660309"/>
            <a:ext cx="3239694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8FA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 — Facultad Regional Mendoza Tecnicatura en Programación · 2026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17490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30492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post-venta manual no escala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242096"/>
            <a:ext cx="952500" cy="381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956471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1571625" y="2813596"/>
            <a:ext cx="13566071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PyMEs de e-commerce gestionan órdenes y consultas de forma manual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38250" y="3705076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1571625" y="3562201"/>
            <a:ext cx="648786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Lento: </a:t>
            </a:r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5 y 30 minutos por caso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38250" y="4463207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4320332"/>
            <a:ext cx="8832041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escala: </a:t>
            </a:r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volumen = más demoras y errores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238250" y="5221337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5078462"/>
            <a:ext cx="7850758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directo en la experiencia del cliente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30267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Y OBJETIVOS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30492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investigación y objetivos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394496"/>
            <a:ext cx="8172004" cy="4368998"/>
          </a:xfrm>
          <a:prstGeom prst="roundRect">
            <a:avLst>
              <a:gd name="adj" fmla="val 2616"/>
            </a:avLst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2851696"/>
            <a:ext cx="80252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9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676400" y="3556546"/>
            <a:ext cx="7514575" cy="150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medida un pipeline de automatización con n8n reduce los tiempos del ciclo post-venta de un e-commerce?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676400" y="5403354"/>
            <a:ext cx="7295704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76400" y="5679579"/>
            <a:ext cx="80252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7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76400" y="5946279"/>
            <a:ext cx="802527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DC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Diseñar, implementar y evaluar ese pipeline automatizado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943654" y="2394496"/>
            <a:ext cx="78167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3654" y="2813596"/>
            <a:ext cx="323850" cy="323850"/>
          </a:xfrm>
          <a:prstGeom prst="ellipse">
            <a:avLst/>
          </a:prstGeom>
          <a:solidFill>
            <a:srgbClr val="EA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554" y="281359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0458004" y="2813596"/>
            <a:ext cx="678949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el procesamiento de órdenes de punta a punta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43654" y="3832771"/>
            <a:ext cx="323850" cy="323850"/>
          </a:xfrm>
          <a:prstGeom prst="ellipse">
            <a:avLst/>
          </a:prstGeom>
          <a:solidFill>
            <a:srgbClr val="EA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9905554" y="383277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0458004" y="3832771"/>
            <a:ext cx="61755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un chatbot omnicanal con IA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43654" y="4466183"/>
            <a:ext cx="323850" cy="323850"/>
          </a:xfrm>
          <a:prstGeom prst="ellipse">
            <a:avLst/>
          </a:prstGeom>
          <a:solidFill>
            <a:srgbClr val="EA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9905554" y="446618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0458004" y="4466183"/>
            <a:ext cx="6139488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el impacto con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MTTD, MTTR y TMR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20989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30492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pilares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470696"/>
            <a:ext cx="7743825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4004221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2470696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470696"/>
            <a:ext cx="57150" cy="154305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9" name="Shape 7"/>
          <p:cNvSpPr/>
          <p:nvPr/>
        </p:nvSpPr>
        <p:spPr>
          <a:xfrm>
            <a:off x="8972550" y="2470696"/>
            <a:ext cx="9525" cy="154305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0" name="Text 8"/>
          <p:cNvSpPr/>
          <p:nvPr/>
        </p:nvSpPr>
        <p:spPr>
          <a:xfrm>
            <a:off x="1695450" y="2861221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low-code / n8n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5450" y="3346996"/>
            <a:ext cx="7564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Dumas et al. (2018)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05925" y="2470696"/>
            <a:ext cx="7743825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05925" y="4004221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05925" y="2470696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305925" y="2470696"/>
            <a:ext cx="57150" cy="154305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040225" y="2470696"/>
            <a:ext cx="9525" cy="154305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125" y="2861221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y few-shot prompting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63125" y="3346996"/>
            <a:ext cx="7564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et al. (2020)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8250" y="4337596"/>
            <a:ext cx="7743825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8250" y="5871121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50" y="4337596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8250" y="4337596"/>
            <a:ext cx="57150" cy="154305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3" name="Shape 21"/>
          <p:cNvSpPr/>
          <p:nvPr/>
        </p:nvSpPr>
        <p:spPr>
          <a:xfrm>
            <a:off x="8972550" y="4337596"/>
            <a:ext cx="9525" cy="154305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4" name="Text 22"/>
          <p:cNvSpPr/>
          <p:nvPr/>
        </p:nvSpPr>
        <p:spPr>
          <a:xfrm>
            <a:off x="1695450" y="4728121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omnicanal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695450" y="5213896"/>
            <a:ext cx="7564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Verhoef et al. (2015)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05925" y="4337596"/>
            <a:ext cx="7743825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05925" y="5871121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8" name="Shape 26"/>
          <p:cNvSpPr/>
          <p:nvPr/>
        </p:nvSpPr>
        <p:spPr>
          <a:xfrm>
            <a:off x="9305925" y="4337596"/>
            <a:ext cx="7743825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9" name="Shape 27"/>
          <p:cNvSpPr/>
          <p:nvPr/>
        </p:nvSpPr>
        <p:spPr>
          <a:xfrm>
            <a:off x="9305925" y="4337596"/>
            <a:ext cx="57150" cy="154305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Shape 28"/>
          <p:cNvSpPr/>
          <p:nvPr/>
        </p:nvSpPr>
        <p:spPr>
          <a:xfrm>
            <a:off x="17040225" y="4337596"/>
            <a:ext cx="9525" cy="154305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31" name="Text 29"/>
          <p:cNvSpPr/>
          <p:nvPr/>
        </p:nvSpPr>
        <p:spPr>
          <a:xfrm>
            <a:off x="9763125" y="4728121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MTTD / MTTR (ITIL, DevOps)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763125" y="5213896"/>
            <a:ext cx="75647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Axelos (2019); Kim et al. (2016)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34" name="Text 32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1826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30492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242096"/>
            <a:ext cx="952500" cy="381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956471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1571625" y="2813596"/>
            <a:ext cx="11416055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de caso </a:t>
            </a:r>
            <a:pPr algn="l" indent="0" marL="0">
              <a:lnSpc>
                <a:spcPct val="135000"/>
              </a:lnSpc>
              <a:buNone/>
            </a:pPr>
            <a:r>
              <a:rPr lang="en-US" sz="26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(Yin, 2018), enfoque cuantitativo con triangulación</a:t>
            </a:r>
            <a:endParaRPr lang="en-US" sz="2625" dirty="0"/>
          </a:p>
        </p:txBody>
      </p:sp>
      <p:sp>
        <p:nvSpPr>
          <p:cNvPr id="8" name="Shape 6"/>
          <p:cNvSpPr/>
          <p:nvPr/>
        </p:nvSpPr>
        <p:spPr>
          <a:xfrm>
            <a:off x="1238250" y="3711327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1571625" y="3568452"/>
            <a:ext cx="11614636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chatbot: </a:t>
            </a:r>
            <a:pPr algn="l" indent="0" marL="0">
              <a:lnSpc>
                <a:spcPct val="135000"/>
              </a:lnSpc>
              <a:buNone/>
            </a:pPr>
            <a:r>
              <a:rPr lang="en-US" sz="26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mensajes (supera el mínimo de Cochran, 1977)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1238250" y="4466183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1571625" y="4323308"/>
            <a:ext cx="7294468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carga: </a:t>
            </a:r>
            <a:pPr algn="l" indent="0" marL="0">
              <a:lnSpc>
                <a:spcPct val="135000"/>
              </a:lnSpc>
              <a:buNone/>
            </a:pPr>
            <a:r>
              <a:rPr lang="en-US" sz="26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órdenes concurrentes</a:t>
            </a:r>
            <a:endParaRPr lang="en-US" sz="2625" dirty="0"/>
          </a:p>
        </p:txBody>
      </p:sp>
      <p:sp>
        <p:nvSpPr>
          <p:cNvPr id="12" name="Shape 10"/>
          <p:cNvSpPr/>
          <p:nvPr/>
        </p:nvSpPr>
        <p:spPr>
          <a:xfrm>
            <a:off x="1238250" y="5221039"/>
            <a:ext cx="123825" cy="123825"/>
          </a:xfrm>
          <a:prstGeom prst="roundRect">
            <a:avLst>
              <a:gd name="adj" fmla="val 15385"/>
            </a:avLst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1625" y="5078164"/>
            <a:ext cx="10975672" cy="48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 de medición: </a:t>
            </a:r>
            <a:pPr algn="l" indent="0" marL="0">
              <a:lnSpc>
                <a:spcPct val="135000"/>
              </a:lnSpc>
              <a:buNone/>
            </a:pPr>
            <a:r>
              <a:rPr lang="en-US" sz="26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 registrados en PostgreSQL</a:t>
            </a:r>
            <a:endParaRPr lang="en-US" sz="2625" dirty="0"/>
          </a:p>
        </p:txBody>
      </p:sp>
      <p:sp>
        <p:nvSpPr>
          <p:cNvPr id="14" name="Shape 12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36354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85875"/>
            <a:ext cx="173926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— dos flujos, una base de datos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238250" y="289143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767608"/>
            <a:ext cx="774558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1 — Pipeline de órdenes (11 nodos):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→ verificación de stock → notificación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38250" y="381416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690342"/>
            <a:ext cx="774558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2 — Chatbot omnicanal (~21 nodos):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Telegram / Email → GPT-4o-mini → respuesta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238250" y="473690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4613077"/>
            <a:ext cx="7745587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única </a:t>
            </a:r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compartida entre ambos flujos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38250" y="565963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535811"/>
            <a:ext cx="7233568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servicios Docker: 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· PostgreSQL · Mailpit · Grafana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615488" y="2253555"/>
            <a:ext cx="7434114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37152" y="2482155"/>
            <a:ext cx="7590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1 · Órdenes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37152" y="2786955"/>
            <a:ext cx="75907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→ stock → notificación · 11 nodos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18182" y="3225105"/>
            <a:ext cx="28575" cy="285750"/>
          </a:xfrm>
          <a:prstGeom prst="rect">
            <a:avLst/>
          </a:prstGeom>
          <a:solidFill>
            <a:srgbClr val="B7C2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5488" y="3510855"/>
            <a:ext cx="7434114" cy="1038225"/>
          </a:xfrm>
          <a:prstGeom prst="roundRect">
            <a:avLst>
              <a:gd name="adj" fmla="val 9174"/>
            </a:avLst>
          </a:prstGeom>
          <a:solidFill>
            <a:srgbClr val="17A2B8"/>
          </a:solidFill>
          <a:ln/>
          <a:effectLst>
            <a:outerShdw sx="100000" sy="100000" kx="0" ky="0" algn="bl" rotWithShape="0" blurRad="266700" dist="114300" dir="5400000">
              <a:srgbClr val="17A2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16197" y="3758505"/>
            <a:ext cx="76326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180" kern="0" dirty="0">
                <a:solidFill>
                  <a:srgbClr val="CF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ÚNICA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16197" y="3977580"/>
            <a:ext cx="76326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318182" y="4549080"/>
            <a:ext cx="28575" cy="285750"/>
          </a:xfrm>
          <a:prstGeom prst="rect">
            <a:avLst/>
          </a:prstGeom>
          <a:solidFill>
            <a:srgbClr val="B7C2D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15488" y="4834830"/>
            <a:ext cx="7434114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52" y="5063430"/>
            <a:ext cx="7590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2 · Chatbot omnicanal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37152" y="5368230"/>
            <a:ext cx="75907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Telegram / Email → GPT-4o-mini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372552" y="6054030"/>
            <a:ext cx="613172" cy="3429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11544002" y="6130230"/>
            <a:ext cx="3464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100024" y="6054030"/>
            <a:ext cx="1225004" cy="3429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7" name="Text 25"/>
          <p:cNvSpPr/>
          <p:nvPr/>
        </p:nvSpPr>
        <p:spPr>
          <a:xfrm>
            <a:off x="12271474" y="6130230"/>
            <a:ext cx="9583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3439329" y="6054030"/>
            <a:ext cx="810816" cy="3429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13610779" y="6130230"/>
            <a:ext cx="5441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Mailpit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4364444" y="6054030"/>
            <a:ext cx="928092" cy="3429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14535894" y="6130230"/>
            <a:ext cx="6613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33" name="Text 31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2888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· FLUJO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8587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órdenes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451646"/>
            <a:ext cx="5073551" cy="217929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4621411"/>
            <a:ext cx="5073551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2451646"/>
            <a:ext cx="5073551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451646"/>
            <a:ext cx="9525" cy="217929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9" name="Shape 7"/>
          <p:cNvSpPr/>
          <p:nvPr/>
        </p:nvSpPr>
        <p:spPr>
          <a:xfrm>
            <a:off x="6302276" y="2451646"/>
            <a:ext cx="9525" cy="217929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0" name="Text 8"/>
          <p:cNvSpPr/>
          <p:nvPr/>
        </p:nvSpPr>
        <p:spPr>
          <a:xfrm>
            <a:off x="1628775" y="2880271"/>
            <a:ext cx="47217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28775" y="3261271"/>
            <a:ext cx="4721751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 </a:t>
            </a:r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800" dirty="0"/>
          </a:p>
        </p:txBody>
      </p:sp>
      <p:sp>
        <p:nvSpPr>
          <p:cNvPr id="12" name="Shape 10"/>
          <p:cNvSpPr/>
          <p:nvPr/>
        </p:nvSpPr>
        <p:spPr>
          <a:xfrm>
            <a:off x="6616601" y="2451646"/>
            <a:ext cx="5073700" cy="217929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6601" y="4621411"/>
            <a:ext cx="50737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6601" y="2451646"/>
            <a:ext cx="5073700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6601" y="2451646"/>
            <a:ext cx="9525" cy="217929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80775" y="2451646"/>
            <a:ext cx="9525" cy="2179290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7" name="Text 15"/>
          <p:cNvSpPr/>
          <p:nvPr/>
        </p:nvSpPr>
        <p:spPr>
          <a:xfrm>
            <a:off x="7007126" y="2880271"/>
            <a:ext cx="47219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007126" y="3261271"/>
            <a:ext cx="4721915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7,69 </a:t>
            </a:r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800" dirty="0"/>
          </a:p>
        </p:txBody>
      </p:sp>
      <p:sp>
        <p:nvSpPr>
          <p:cNvPr id="19" name="Shape 17"/>
          <p:cNvSpPr/>
          <p:nvPr/>
        </p:nvSpPr>
        <p:spPr>
          <a:xfrm>
            <a:off x="11995100" y="2451646"/>
            <a:ext cx="5054650" cy="2179290"/>
          </a:xfrm>
          <a:prstGeom prst="roundRect">
            <a:avLst>
              <a:gd name="adj" fmla="val 5245"/>
            </a:avLst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76100" y="2832646"/>
            <a:ext cx="47219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7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376100" y="3213646"/>
            <a:ext cx="4721915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9,48 </a:t>
            </a:r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800" dirty="0"/>
          </a:p>
        </p:txBody>
      </p:sp>
      <p:sp>
        <p:nvSpPr>
          <p:cNvPr id="22" name="Shape 20"/>
          <p:cNvSpPr/>
          <p:nvPr/>
        </p:nvSpPr>
        <p:spPr>
          <a:xfrm>
            <a:off x="1238250" y="5250061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3" name="Text 21"/>
          <p:cNvSpPr/>
          <p:nvPr/>
        </p:nvSpPr>
        <p:spPr>
          <a:xfrm>
            <a:off x="1543050" y="5126236"/>
            <a:ext cx="10822603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carga: 20 órdenes concurrentes, 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errores de concurrencia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238250" y="588049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5" name="Text 23"/>
          <p:cNvSpPr/>
          <p:nvPr/>
        </p:nvSpPr>
        <p:spPr>
          <a:xfrm>
            <a:off x="1543050" y="5756672"/>
            <a:ext cx="6903690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9,48 s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5–30 minutos del proceso manual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7" name="Text 25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2888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· FLUJO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8587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omnicanal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413546"/>
            <a:ext cx="5073551" cy="2011561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4415582"/>
            <a:ext cx="5073551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2413546"/>
            <a:ext cx="5073551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413546"/>
            <a:ext cx="9525" cy="2011561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9" name="Shape 7"/>
          <p:cNvSpPr/>
          <p:nvPr/>
        </p:nvSpPr>
        <p:spPr>
          <a:xfrm>
            <a:off x="6302276" y="2413546"/>
            <a:ext cx="9525" cy="2011561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0" name="Text 8"/>
          <p:cNvSpPr/>
          <p:nvPr/>
        </p:nvSpPr>
        <p:spPr>
          <a:xfrm>
            <a:off x="1609725" y="2804071"/>
            <a:ext cx="47636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TMR PROMEDIO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09725" y="3166021"/>
            <a:ext cx="476366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2,47 </a:t>
            </a:r>
            <a:pPr algn="l" indent="0" marL="0">
              <a:lnSpc>
                <a:spcPct val="95000"/>
              </a:lnSpc>
              <a:buNone/>
            </a:pPr>
            <a:r>
              <a:rPr lang="en-US" sz="285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6616601" y="2413546"/>
            <a:ext cx="5054650" cy="2011561"/>
          </a:xfrm>
          <a:prstGeom prst="roundRect">
            <a:avLst>
              <a:gd name="adj" fmla="val 5682"/>
            </a:avLst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978551" y="2756446"/>
            <a:ext cx="476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7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978551" y="3118396"/>
            <a:ext cx="47638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90,7 </a:t>
            </a:r>
            <a:pPr algn="l" indent="0" marL="0">
              <a:lnSpc>
                <a:spcPct val="95000"/>
              </a:lnSpc>
              <a:buNone/>
            </a:pPr>
            <a:r>
              <a:rPr lang="en-US" sz="285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11976050" y="2413546"/>
            <a:ext cx="5073700" cy="2011561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76050" y="4415582"/>
            <a:ext cx="50737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76050" y="2413546"/>
            <a:ext cx="5073700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76050" y="2413546"/>
            <a:ext cx="9525" cy="2011561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040225" y="2413546"/>
            <a:ext cx="9525" cy="2011561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7525" y="2804071"/>
            <a:ext cx="4763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EVALUADOS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347525" y="3166021"/>
            <a:ext cx="4763825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7200" dirty="0"/>
          </a:p>
        </p:txBody>
      </p:sp>
      <p:sp>
        <p:nvSpPr>
          <p:cNvPr id="22" name="Shape 20"/>
          <p:cNvSpPr/>
          <p:nvPr/>
        </p:nvSpPr>
        <p:spPr>
          <a:xfrm>
            <a:off x="1238250" y="4882307"/>
            <a:ext cx="3852863" cy="1200150"/>
          </a:xfrm>
          <a:prstGeom prst="roundRect">
            <a:avLst>
              <a:gd name="adj" fmla="val 7937"/>
            </a:avLst>
          </a:prstGeom>
          <a:solidFill>
            <a:srgbClr val="EAF0F8"/>
          </a:solidFill>
          <a:ln/>
        </p:spPr>
      </p:sp>
      <p:sp>
        <p:nvSpPr>
          <p:cNvPr id="23" name="Text 21"/>
          <p:cNvSpPr/>
          <p:nvPr/>
        </p:nvSpPr>
        <p:spPr>
          <a:xfrm>
            <a:off x="1255157" y="5110907"/>
            <a:ext cx="38190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57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255157" y="5377607"/>
            <a:ext cx="381904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</a:t>
            </a:r>
            <a:pPr algn="ctr" indent="0" marL="0">
              <a:buNone/>
            </a:pPr>
            <a:r>
              <a:rPr lang="en-US" sz="15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300" dirty="0"/>
          </a:p>
        </p:txBody>
      </p:sp>
      <p:sp>
        <p:nvSpPr>
          <p:cNvPr id="25" name="Shape 23"/>
          <p:cNvSpPr/>
          <p:nvPr/>
        </p:nvSpPr>
        <p:spPr>
          <a:xfrm>
            <a:off x="5224463" y="4882307"/>
            <a:ext cx="3852863" cy="1200150"/>
          </a:xfrm>
          <a:prstGeom prst="roundRect">
            <a:avLst>
              <a:gd name="adj" fmla="val 7937"/>
            </a:avLst>
          </a:prstGeom>
          <a:solidFill>
            <a:srgbClr val="EAF0F8"/>
          </a:solidFill>
          <a:ln/>
        </p:spPr>
      </p:sp>
      <p:sp>
        <p:nvSpPr>
          <p:cNvPr id="26" name="Text 24"/>
          <p:cNvSpPr/>
          <p:nvPr/>
        </p:nvSpPr>
        <p:spPr>
          <a:xfrm>
            <a:off x="5241369" y="5110907"/>
            <a:ext cx="38190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57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241369" y="5377607"/>
            <a:ext cx="381904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2,46</a:t>
            </a:r>
            <a:pPr algn="ctr" indent="0" marL="0">
              <a:buNone/>
            </a:pPr>
            <a:r>
              <a:rPr lang="en-US" sz="15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300" dirty="0"/>
          </a:p>
        </p:txBody>
      </p:sp>
      <p:sp>
        <p:nvSpPr>
          <p:cNvPr id="28" name="Shape 26"/>
          <p:cNvSpPr/>
          <p:nvPr/>
        </p:nvSpPr>
        <p:spPr>
          <a:xfrm>
            <a:off x="9210675" y="4882307"/>
            <a:ext cx="3852863" cy="1200150"/>
          </a:xfrm>
          <a:prstGeom prst="roundRect">
            <a:avLst>
              <a:gd name="adj" fmla="val 7937"/>
            </a:avLst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9227582" y="5110907"/>
            <a:ext cx="38190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57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RECLAMO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9227582" y="5377607"/>
            <a:ext cx="381904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</a:t>
            </a:r>
            <a:pPr algn="ctr" indent="0" marL="0">
              <a:buNone/>
            </a:pPr>
            <a:r>
              <a:rPr lang="en-US" sz="15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13196888" y="4882307"/>
            <a:ext cx="3852863" cy="1200150"/>
          </a:xfrm>
          <a:prstGeom prst="roundRect">
            <a:avLst>
              <a:gd name="adj" fmla="val 7937"/>
            </a:avLst>
          </a:prstGeom>
          <a:solidFill>
            <a:srgbClr val="EAF0F8"/>
          </a:solidFill>
          <a:ln/>
        </p:spPr>
      </p:sp>
      <p:sp>
        <p:nvSpPr>
          <p:cNvPr id="32" name="Text 30"/>
          <p:cNvSpPr/>
          <p:nvPr/>
        </p:nvSpPr>
        <p:spPr>
          <a:xfrm>
            <a:off x="13213794" y="5110907"/>
            <a:ext cx="38190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spc="57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ESTADO_PEDIDO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213794" y="5377607"/>
            <a:ext cx="381904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2,83</a:t>
            </a:r>
            <a:pPr algn="ctr" indent="0" marL="0">
              <a:buNone/>
            </a:pPr>
            <a:r>
              <a:rPr lang="en-US" sz="15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300" dirty="0"/>
          </a:p>
        </p:txBody>
      </p:sp>
      <p:sp>
        <p:nvSpPr>
          <p:cNvPr id="34" name="Shape 32"/>
          <p:cNvSpPr/>
          <p:nvPr/>
        </p:nvSpPr>
        <p:spPr>
          <a:xfrm>
            <a:off x="1238250" y="64729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35" name="Text 33"/>
          <p:cNvSpPr/>
          <p:nvPr/>
        </p:nvSpPr>
        <p:spPr>
          <a:xfrm>
            <a:off x="1543050" y="6368207"/>
            <a:ext cx="812006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con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 intents · TMR por intent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37" name="Text 35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13668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8587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hipótesis, confirmadas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489746"/>
            <a:ext cx="1581150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85925" y="2861221"/>
            <a:ext cx="609600" cy="6096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1862286" y="2937421"/>
            <a:ext cx="3330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600325" y="3094583"/>
            <a:ext cx="3692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064818" y="2970758"/>
            <a:ext cx="452660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end-to-end &lt; 30 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408473" y="2908846"/>
            <a:ext cx="12698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9,48 s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1238250" y="4108996"/>
            <a:ext cx="1581150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85925" y="4480471"/>
            <a:ext cx="609600" cy="6096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1862286" y="4556671"/>
            <a:ext cx="3330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600325" y="4713833"/>
            <a:ext cx="4984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194000" y="4590008"/>
            <a:ext cx="187498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TMR &lt; 10 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5408473" y="4528096"/>
            <a:ext cx="12698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2,47 s</a:t>
            </a:r>
            <a:endParaRPr lang="en-US" sz="3450" dirty="0"/>
          </a:p>
        </p:txBody>
      </p:sp>
      <p:sp>
        <p:nvSpPr>
          <p:cNvPr id="17" name="Shape 15"/>
          <p:cNvSpPr/>
          <p:nvPr/>
        </p:nvSpPr>
        <p:spPr>
          <a:xfrm>
            <a:off x="1238250" y="5728246"/>
            <a:ext cx="1581150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2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85925" y="6099721"/>
            <a:ext cx="609600" cy="6096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1862286" y="6175921"/>
            <a:ext cx="3330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600325" y="6333083"/>
            <a:ext cx="4984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H2b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194000" y="6209258"/>
            <a:ext cx="272906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≥ 85%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5359658" y="6147346"/>
            <a:ext cx="136665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90,7%</a:t>
            </a:r>
            <a:endParaRPr lang="en-US" sz="3450" dirty="0"/>
          </a:p>
        </p:txBody>
      </p:sp>
      <p:sp>
        <p:nvSpPr>
          <p:cNvPr id="23" name="Shape 21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24" name="Text 22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971550"/>
            <a:ext cx="342900" cy="2857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76300"/>
            <a:ext cx="44865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TRABAJO FUTURO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1285875"/>
            <a:ext cx="173926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38250" y="2318296"/>
            <a:ext cx="15811500" cy="2059186"/>
          </a:xfrm>
          <a:prstGeom prst="roundRect">
            <a:avLst>
              <a:gd name="adj" fmla="val 6476"/>
            </a:avLst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737396"/>
            <a:ext cx="16344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7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714500" y="3051721"/>
            <a:ext cx="1530477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low-code combinada con un LLM automatiza el ciclo post-venta reduciendo los tiempos de minutos a segundos, de forma medible y reproducible, al alcance de una PyME.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38250" y="4739432"/>
            <a:ext cx="85077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04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238250" y="52156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9AA4B2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5101382"/>
            <a:ext cx="712584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de desarrollo controlado · muestra acotada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15450" y="4739432"/>
            <a:ext cx="85077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04" kern="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315450" y="52156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0" y="5101382"/>
            <a:ext cx="767200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en producción · más intents · panel de administración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38250" y="9515475"/>
            <a:ext cx="15811500" cy="9525"/>
          </a:xfrm>
          <a:prstGeom prst="rect">
            <a:avLst/>
          </a:prstGeom>
          <a:solidFill>
            <a:srgbClr val="E2E7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9677400"/>
            <a:ext cx="41898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POST-VENTA · UTN FRM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6475869" y="9677400"/>
            <a:ext cx="6500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02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571500"/>
            <a:ext cx="4953000" cy="4953000"/>
          </a:xfrm>
          <a:prstGeom prst="rect">
            <a:avLst/>
          </a:prstGeom>
          <a:gradFill rotWithShape="1">
            <a:gsLst>
              <a:gs pos="0">
                <a:srgbClr val="17A2B8">
                  <a:alpha val="26000"/>
                </a:srgbClr>
              </a:gs>
              <a:gs pos="70000">
                <a:srgbClr val="17A2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666750" y="7143750"/>
            <a:ext cx="4000500" cy="4000500"/>
          </a:xfrm>
          <a:prstGeom prst="rect">
            <a:avLst/>
          </a:prstGeom>
          <a:gradFill rotWithShape="1">
            <a:gsLst>
              <a:gs pos="0">
                <a:srgbClr val="17A2B8">
                  <a:alpha val="16000"/>
                </a:srgbClr>
              </a:gs>
              <a:gs pos="70000">
                <a:srgbClr val="17A2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5956548" y="3543300"/>
            <a:ext cx="637490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11250" dirty="0"/>
          </a:p>
        </p:txBody>
      </p:sp>
      <p:sp>
        <p:nvSpPr>
          <p:cNvPr id="5" name="Shape 3"/>
          <p:cNvSpPr/>
          <p:nvPr/>
        </p:nvSpPr>
        <p:spPr>
          <a:xfrm>
            <a:off x="8524875" y="5391150"/>
            <a:ext cx="1238250" cy="47625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5013573" y="5819775"/>
            <a:ext cx="82608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Sordi · Ignacio Odorico · Juan Cruz 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9148" y="6429375"/>
            <a:ext cx="58495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8FA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Quedamos a disposición para las preguntas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218486" y="9553575"/>
            <a:ext cx="58510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62" kern="0" dirty="0">
                <a:solidFill>
                  <a:srgbClr val="5E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 FRM · TECNICATURA EN PROGRAMACIÓN ·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2026-07-02T07:02:54Z</dcterms:created>
  <dcterms:modified xsi:type="dcterms:W3CDTF">2026-07-02T07:02:54Z</dcterms:modified>
</cp:coreProperties>
</file>